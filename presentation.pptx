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fr-FR" sz="1300" b="0" i="0" u="none" strike="noStrike">
                <a:solidFill>
                  <a:srgbClr val="1F3A5F"/>
                </a:solidFill>
                <a:latin typeface="Arial"/>
              </a:rPr>
              <a:t>Réussis par catégorie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réussis</c:v>
                </c:pt>
              </c:strCache>
            </c:strRef>
          </c:tx>
          <c:spPr>
            <a:solidFill>
              <a:srgbClr val="1F9D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Format</c:v>
                </c:pt>
                <c:pt idx="1">
                  <c:v>Intégration</c:v>
                </c:pt>
                <c:pt idx="2">
                  <c:v>Policy</c:v>
                </c:pt>
                <c:pt idx="3">
                  <c:v>Mauvaise entrée</c:v>
                </c:pt>
                <c:pt idx="4">
                  <c:v>Mocks</c:v>
                </c:pt>
                <c:pt idx="5">
                  <c:v>Non-régression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5A-4DB5-BEF3-51B7178BC7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650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du jour : garantir la qualité de l'agent après chaque modification.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2B90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09728" cy="1463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mage 0" descr="Logo AI Educ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42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   AI Education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2B90F"/>
                </a:solidFill>
              </a:rPr>
              <a:t>Tests automatisés &amp; CI/CD agentique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4F2"/>
                </a:solidFill>
              </a:rPr>
              <a:t>Mini-projet — KAMAL EL AFOUI · Jour 22</a:t>
            </a:r>
            <a:endParaRPr lang="en-US" sz="1600" dirty="0"/>
          </a:p>
        </p:txBody>
      </p:sp>
      <p:pic>
        <p:nvPicPr>
          <p:cNvPr id="8" name="logo-1" descr="preencoded.png">
            <a:extLst>
              <a:ext uri="{FF2B5EF4-FFF2-40B4-BE49-F238E27FC236}">
                <a16:creationId xmlns:a16="http://schemas.microsoft.com/office/drawing/2014/main" id="{1BABBCFE-5A23-6209-A0AC-9DE055856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26" y="160020"/>
            <a:ext cx="758952" cy="777240"/>
          </a:xfrm>
          <a:prstGeom prst="rect">
            <a:avLst/>
          </a:prstGeom>
        </p:spPr>
      </p:pic>
      <p:pic>
        <p:nvPicPr>
          <p:cNvPr id="10" name="logo-2" descr="preencoded.png">
            <a:extLst>
              <a:ext uri="{FF2B5EF4-FFF2-40B4-BE49-F238E27FC236}">
                <a16:creationId xmlns:a16="http://schemas.microsoft.com/office/drawing/2014/main" id="{900291F1-E6DA-849C-C82C-9AEEC0168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51460"/>
            <a:ext cx="141732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Pourquoi tester l'agent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Sans test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Régressions après modification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Réponses imprévues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Erreurs détectées en production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Comportement non maîtrisé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F9D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solidFill>
            <a:srgbClr val="1F9D5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Avec test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Validation automatique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Détection précoce des erreurs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Comportement stable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Déploiements plus sûrs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4069080"/>
            <a:ext cx="4572000" cy="457200"/>
          </a:xfrm>
          <a:prstGeom prst="rect">
            <a:avLst/>
          </a:prstGeom>
          <a:solidFill>
            <a:srgbClr val="DDEB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Tester avant de déployer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Architecture</a:t>
            </a:r>
            <a:endParaRPr lang="en-US" sz="2800" dirty="0"/>
          </a:p>
        </p:txBody>
      </p:sp>
      <p:pic>
        <p:nvPicPr>
          <p:cNvPr id="3" name="Image 0" descr="Architecture de l'agent et du pipeline CI/C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097280"/>
            <a:ext cx="566928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</a:rPr>
              <a:t>Production : workflow Langflow · Qualité : agent Python + mocks · CI/CD : tests à chaque push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Workflow Langflow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 Input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question de l’élève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0" y="1577340"/>
            <a:ext cx="365760" cy="0"/>
          </a:xfrm>
          <a:prstGeom prst="line">
            <a:avLst/>
          </a:prstGeom>
          <a:noFill/>
          <a:ln w="25400">
            <a:solidFill>
              <a:srgbClr val="8B97B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651760" y="12344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2B5FD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Classifieur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intent · topic · policy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0" y="1577340"/>
            <a:ext cx="365760" cy="0"/>
          </a:xfrm>
          <a:prstGeom prst="line">
            <a:avLst/>
          </a:prstGeom>
          <a:noFill/>
          <a:ln w="25400">
            <a:solidFill>
              <a:srgbClr val="8B97B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887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Router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 routes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03120"/>
            <a:ext cx="1645920" cy="274320"/>
          </a:xfrm>
          <a:prstGeom prst="rect">
            <a:avLst/>
          </a:prstGeom>
          <a:solidFill>
            <a:srgbClr val="1F9D5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TUTORAT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688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Tuteur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+ Recherche de cours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834640"/>
            <a:ext cx="365760" cy="0"/>
          </a:xfrm>
          <a:prstGeom prst="line">
            <a:avLst/>
          </a:prstGeom>
          <a:noFill/>
          <a:ln w="25400">
            <a:solidFill>
              <a:srgbClr val="8B97B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560320" y="24688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Formateur JSON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7 champs du contrat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365760" cy="0"/>
          </a:xfrm>
          <a:prstGeom prst="line">
            <a:avLst/>
          </a:prstGeom>
          <a:noFill/>
          <a:ln w="25400">
            <a:solidFill>
              <a:srgbClr val="8B97B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663440" y="24688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Journal DB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education_executions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834640"/>
            <a:ext cx="365760" cy="0"/>
          </a:xfrm>
          <a:prstGeom prst="line">
            <a:avLst/>
          </a:prstGeom>
          <a:noFill/>
          <a:ln w="25400">
            <a:solidFill>
              <a:srgbClr val="8B97B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766560" y="24688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réponse finale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83280"/>
            <a:ext cx="2194560" cy="274320"/>
          </a:xfrm>
          <a:prstGeom prst="rect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REFUS / HORS CADRE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490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 status = refused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triche · injection · hors cadre · entrée invalide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4069080"/>
            <a:ext cx="365760" cy="0"/>
          </a:xfrm>
          <a:prstGeom prst="line">
            <a:avLst/>
          </a:prstGeom>
          <a:noFill/>
          <a:ln w="25400">
            <a:solidFill>
              <a:srgbClr val="8B97B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663440" y="37490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aucun appel d’outil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</a:rPr>
              <a:t>Export : Correction_AI_Education.json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Les 4 types de tests (+ mocks et non-régression)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DDEBF5"/>
          </a:solidFill>
          <a:ln w="12700">
            <a:solidFill>
              <a:srgbClr val="DDEB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A5F"/>
                </a:solidFill>
              </a:rPr>
              <a:t>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Format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Schéma JSON, champs, types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DDF3E0"/>
          </a:solidFill>
          <a:ln w="12700">
            <a:solidFill>
              <a:srgbClr val="DDF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371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A5F"/>
                </a:solidFill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103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Intégration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Enchaînement agent → outils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BF1CC"/>
          </a:solidFill>
          <a:ln w="12700">
            <a:solidFill>
              <a:srgbClr val="FBF1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371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A5F"/>
                </a:solidFill>
              </a:rPr>
              <a:t>6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103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Policy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Triche, injection, confidentialité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9DAD5"/>
          </a:solidFill>
          <a:ln w="12700">
            <a:solidFill>
              <a:srgbClr val="F9DA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371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A5F"/>
                </a:solidFill>
              </a:rPr>
              <a:t>6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103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Mauvaise entrée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Vide, None, ID/niveau invalides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</a:rPr>
              <a:t>+ 5 tests de mocks (pannes) et 1 test de non-régression sur 3 cas de référence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Mocking des outils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011680" cy="594360"/>
          </a:xfrm>
          <a:prstGeom prst="rect">
            <a:avLst/>
          </a:prstGeom>
          <a:solidFill>
            <a:srgbClr val="1F9D5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success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12801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Cours / progression retournés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→ ok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2011680" cy="594360"/>
          </a:xfrm>
          <a:prstGeom prst="rect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error_500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057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Erreur 500 → retry x1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→ degraded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34640"/>
            <a:ext cx="2011680" cy="594360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timeout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834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Timeout → retry x1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→ degraded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11880"/>
            <a:ext cx="2011680" cy="594360"/>
          </a:xfrm>
          <a:prstGeom prst="rect">
            <a:avLst/>
          </a:prstGeom>
          <a:solidFill>
            <a:srgbClr val="5B647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empty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611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Aucun résultat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6118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</a:rPr>
              <a:t>→ ok + message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</a:rPr>
              <a:t>Rapide, déterministe, sans réseau : on simule ce qui est rare ou difficile à reproduire.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Pipeline CI/CD agentique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3000" y="1371600"/>
            <a:ext cx="731520" cy="7315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965960" y="1737360"/>
            <a:ext cx="1188720" cy="0"/>
          </a:xfrm>
          <a:prstGeom prst="line">
            <a:avLst/>
          </a:prstGeom>
          <a:noFill/>
          <a:ln w="25400">
            <a:solidFill>
              <a:srgbClr val="B0B8C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</a:rPr>
              <a:t>Push GitHub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Code, prompts, workflows versionnés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731520" cy="731520"/>
          </a:xfrm>
          <a:prstGeom prst="ellipse">
            <a:avLst/>
          </a:prstGeom>
          <a:solidFill>
            <a:srgbClr val="2B5FD9"/>
          </a:solidFill>
          <a:ln w="12700">
            <a:solidFill>
              <a:srgbClr val="2B5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069080" y="1737360"/>
            <a:ext cx="1188720" cy="0"/>
          </a:xfrm>
          <a:prstGeom prst="line">
            <a:avLst/>
          </a:prstGeom>
          <a:noFill/>
          <a:ln w="25400">
            <a:solidFill>
              <a:srgbClr val="B0B8C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65176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</a:rPr>
              <a:t>Exécution des tests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pytest : 28 cas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9240" y="1371600"/>
            <a:ext cx="731520" cy="73152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72200" y="1737360"/>
            <a:ext cx="1188720" cy="0"/>
          </a:xfrm>
          <a:prstGeom prst="line">
            <a:avLst/>
          </a:prstGeom>
          <a:noFill/>
          <a:ln w="25400">
            <a:solidFill>
              <a:srgbClr val="B0B8C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75488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</a:rPr>
              <a:t>Validation (build)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Rapport + dashboard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2360" y="1371600"/>
            <a:ext cx="731520" cy="7315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286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</a:rPr>
              <a:t>Déploiement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Seulement si tout est vert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40480"/>
            <a:ext cx="6949440" cy="502920"/>
          </a:xfrm>
          <a:prstGeom prst="rect">
            <a:avLst/>
          </a:prstGeom>
          <a:solidFill>
            <a:srgbClr val="DDEB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Un comportement validé hier doit rester valide demain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Résultats de la suite de tests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solidFill>
            <a:srgbClr val="F4F6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28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</a:rPr>
              <a:t>tests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1280160"/>
            <a:ext cx="1005840" cy="1005840"/>
          </a:xfrm>
          <a:prstGeom prst="rect">
            <a:avLst/>
          </a:prstGeom>
          <a:solidFill>
            <a:srgbClr val="F4F6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28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</a:rPr>
              <a:t>réussis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280160"/>
            <a:ext cx="1005840" cy="1005840"/>
          </a:xfrm>
          <a:prstGeom prst="rect">
            <a:avLst/>
          </a:prstGeom>
          <a:solidFill>
            <a:srgbClr val="F4F6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0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</a:rPr>
              <a:t>échoués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280160"/>
            <a:ext cx="1005840" cy="1005840"/>
          </a:xfrm>
          <a:prstGeom prst="rect">
            <a:avLst/>
          </a:prstGeom>
          <a:solidFill>
            <a:srgbClr val="F4F6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A5F"/>
                </a:solidFill>
              </a:rPr>
              <a:t>100 %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</a:rPr>
              <a:t>succès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4297680" cy="365760"/>
          </a:xfrm>
          <a:prstGeom prst="rect">
            <a:avLst/>
          </a:prstGeom>
          <a:solidFill>
            <a:srgbClr val="1F9D5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Pipeline : build passing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937760" y="118872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4" name="Image 0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</a:t>
            </a:r>
            <a:r>
              <a:rPr lang="en-US" sz="1300" b="1" dirty="0">
                <a:solidFill>
                  <a:srgbClr val="F2B90F"/>
                </a:solidFill>
              </a:rPr>
              <a:t>Education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1920240" cy="310896"/>
          </a:xfrm>
          <a:prstGeom prst="rect">
            <a:avLst/>
          </a:prstGeom>
          <a:solidFill>
            <a:srgbClr val="3A5A87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Vue d’ensemble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31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Tester l’agent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87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Statistiques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443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Tests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009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Mocks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657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Workflow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014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Terminal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1234440"/>
            <a:ext cx="1645920" cy="685800"/>
          </a:xfrm>
          <a:prstGeom prst="rect">
            <a:avLst/>
          </a:prstGeom>
          <a:solidFill>
            <a:srgbClr val="2B5FD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Menu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12344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</a:rPr>
              <a:t>7 pages, mode clair / sombre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2057400"/>
            <a:ext cx="1645920" cy="685800"/>
          </a:xfrm>
          <a:prstGeom prst="rect">
            <a:avLst/>
          </a:prstGeom>
          <a:solidFill>
            <a:srgbClr val="1F9D5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Formulaire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0574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</a:rPr>
              <a:t>Question, élève, niveau, scénario de mock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2880360"/>
            <a:ext cx="1645920" cy="685800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Graphiques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2880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</a:rPr>
              <a:t>Anneau de réussite, barres par catégorie et par statut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3703320"/>
            <a:ext cx="1645920" cy="685800"/>
          </a:xfrm>
          <a:prstGeom prst="rect">
            <a:avLst/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Statistiques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37033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</a:rPr>
              <a:t>Requêtes, durée des tests, historique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017520" y="45262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</a:rPr>
              <a:t>Un seul fichier HTML, régénéré à chaque exécution des tests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Démo terminal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01752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BD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main.py "Donne un quiz python" --scenario timeout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"degraded", "intent": "quiz", ... }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BD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 -v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tests/test_agent.py::test_11_refuse_cheating PASSED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tests/test_agent.py::test_24_timeout_retries_once PASSED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B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BD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 28 passed ======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python main.py · pytest tests -v · python run_report.py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</a:rPr>
              <a:t>Livrables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Workflow final : export JSON Langflow + documentation (docx)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Suite de 28 tests avec rapport (JSON / MD / dashboard)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Pipeline CI GitHub Actions (badge vert dans le repo)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Documentation des mocks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Code : main.py, mocks.py, notebook.ipynb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</a:rPr>
              <a:t>Dashboard HTML (menu, formulaire, graphiques, terminal) et logo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1E"/>
                </a:solidFill>
              </a:rPr>
              <a:t>Tester avant de déployer.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Education">
  <a:themeElements>
    <a:clrScheme name="AI Education">
      <a:dk1>
        <a:srgbClr val="14213D"/>
      </a:dk1>
      <a:lt1>
        <a:srgbClr val="FFFFFF"/>
      </a:lt1>
      <a:dk2>
        <a:srgbClr val="1F3A5F"/>
      </a:dk2>
      <a:lt2>
        <a:srgbClr val="F4F6FA"/>
      </a:lt2>
      <a:accent1>
        <a:srgbClr val="1F3A5F"/>
      </a:accent1>
      <a:accent2>
        <a:srgbClr val="F2B90F"/>
      </a:accent2>
      <a:accent3>
        <a:srgbClr val="E8871E"/>
      </a:accent3>
      <a:accent4>
        <a:srgbClr val="1F9D55"/>
      </a:accent4>
      <a:accent5>
        <a:srgbClr val="D64545"/>
      </a:accent5>
      <a:accent6>
        <a:srgbClr val="2B5FD9"/>
      </a:accent6>
      <a:hlink>
        <a:srgbClr val="2B5FD9"/>
      </a:hlink>
      <a:folHlink>
        <a:srgbClr val="5B6478"/>
      </a:folHlink>
    </a:clrScheme>
    <a:fontScheme name="AI Educ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580</Words>
  <Application>Microsoft Office PowerPoint</Application>
  <PresentationFormat>Affichage à l'écran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AI Education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Education - Tests automatisés &amp; CI/CD agentique</dc:title>
  <dc:subject>PptxGenJS Presentation</dc:subject>
  <dc:creator>PptxGenJS</dc:creator>
  <cp:lastModifiedBy>Kamal EL AFOUI</cp:lastModifiedBy>
  <cp:revision>2</cp:revision>
  <dcterms:created xsi:type="dcterms:W3CDTF">2026-10-28T11:26:19Z</dcterms:created>
  <dcterms:modified xsi:type="dcterms:W3CDTF">2026-10-28T11:55:44Z</dcterms:modified>
</cp:coreProperties>
</file>